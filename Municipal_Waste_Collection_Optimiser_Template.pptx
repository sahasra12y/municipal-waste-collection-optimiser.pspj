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0" d="100"/>
          <a:sy n="90" d="100"/>
        </p:scale>
        <p:origin x="39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wrap="square" lIns="137160" tIns="109728" rIns="137160" bIns="91440"/>
          <a:lstStyle/>
          <a:p>
            <a:pPr>
              <a:spcAft>
                <a:spcPts val="900"/>
              </a:spcAft>
              <a:defRPr sz="3000" b="1">
                <a:solidFill>
                  <a:srgbClr val="163944"/>
                </a:solidFill>
                <a:latin typeface="Aptos"/>
              </a:defRPr>
            </a:pPr>
            <a:r>
              <a:t>Municipal Waste</a:t>
            </a:r>
          </a:p>
          <a:p>
            <a:pPr>
              <a:spcAft>
                <a:spcPts val="900"/>
              </a:spcAft>
              <a:defRPr sz="3000" b="1">
                <a:solidFill>
                  <a:srgbClr val="163944"/>
                </a:solidFill>
                <a:latin typeface="Aptos"/>
              </a:defRPr>
            </a:pPr>
            <a:r>
              <a:t>Collection Optimiser</a:t>
            </a:r>
          </a:p>
          <a:p>
            <a:pPr>
              <a:spcAft>
                <a:spcPts val="900"/>
              </a:spcAft>
              <a:defRPr sz="3000" b="1">
                <a:solidFill>
                  <a:srgbClr val="163944"/>
                </a:solidFill>
                <a:latin typeface="Aptos"/>
              </a:defRPr>
            </a:pPr>
            <a:r>
              <a:t>Team No: ______</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wrap="square" lIns="137160" tIns="109728" rIns="137160" bIns="91440"/>
          <a:lstStyle/>
          <a:p>
            <a:pPr>
              <a:spcAft>
                <a:spcPts val="900"/>
              </a:spcAft>
              <a:defRPr sz="1600" b="0">
                <a:solidFill>
                  <a:srgbClr val="4B5B61"/>
                </a:solidFill>
                <a:latin typeface="Aptos"/>
              </a:defRPr>
            </a:pPr>
            <a:r>
              <a:t>Student Name: __________________    Roll No: ______________</a:t>
            </a:r>
          </a:p>
          <a:p>
            <a:pPr>
              <a:spcAft>
                <a:spcPts val="900"/>
              </a:spcAft>
              <a:defRPr sz="1600" b="0">
                <a:solidFill>
                  <a:srgbClr val="4B5B61"/>
                </a:solidFill>
                <a:latin typeface="Aptos"/>
              </a:defRPr>
            </a:pPr>
            <a:r>
              <a:t>Student Name: __________________    Roll No: ______________</a:t>
            </a:r>
          </a:p>
          <a:p>
            <a:pPr>
              <a:spcAft>
                <a:spcPts val="900"/>
              </a:spcAft>
              <a:defRPr sz="1600" b="0">
                <a:solidFill>
                  <a:srgbClr val="4B5B61"/>
                </a:solidFill>
                <a:latin typeface="Aptos"/>
              </a:defRPr>
            </a:pPr>
            <a:r>
              <a:t>Student Name: __________________    Roll No: ______________</a:t>
            </a:r>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r>
              <a:t>15-10-2026</a:t>
            </a:r>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r>
              <a:t>1</a:t>
            </a: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wrap="square" lIns="137160" tIns="109728" rIns="137160" bIns="91440"/>
          <a:lstStyle/>
          <a:p>
            <a:pPr>
              <a:spcAft>
                <a:spcPts val="900"/>
              </a:spcAft>
              <a:defRPr sz="2800" b="1">
                <a:solidFill>
                  <a:srgbClr val="163944"/>
                </a:solidFill>
                <a:latin typeface="Aptos"/>
              </a:defRPr>
            </a:pPr>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p:txBody>
          <a:bodyPr wrap="square" lIns="137160" tIns="109728" rIns="137160" bIns="91440"/>
          <a:lstStyle/>
          <a:p>
            <a:pPr>
              <a:spcAft>
                <a:spcPts val="900"/>
              </a:spcAft>
              <a:defRPr sz="1900" b="0">
                <a:solidFill>
                  <a:srgbClr val="4B5B61"/>
                </a:solidFill>
                <a:latin typeface="Aptos"/>
              </a:defRPr>
            </a:pPr>
            <a:r>
              <a:t>Municipal waste collection can be inefficient when fixed routes visit half-empty bins while other collection points overflow.</a:t>
            </a:r>
            <a:endParaRPr lang="en-IN"/>
          </a:p>
          <a:p>
            <a:pPr>
              <a:spcAft>
                <a:spcPts val="900"/>
              </a:spcAft>
              <a:defRPr sz="1900" b="0">
                <a:solidFill>
                  <a:srgbClr val="4B5B61"/>
                </a:solidFill>
                <a:latin typeface="Aptos"/>
              </a:defRPr>
            </a:pPr>
            <a:endParaRPr lang="en-IN"/>
          </a:p>
          <a:p>
            <a:pPr>
              <a:spcAft>
                <a:spcPts val="900"/>
              </a:spcAft>
              <a:defRPr sz="1900" b="0">
                <a:solidFill>
                  <a:srgbClr val="4B5B61"/>
                </a:solidFill>
                <a:latin typeface="Aptos"/>
              </a:defRPr>
            </a:pPr>
            <a:r>
              <a:t>The Municipal Waste Collection Optimiser is a Java project concept that records waste levels at collection points, classifies them by priority, and arranges a collection order. Higher-level bins are considered first so collection resources can be planned more effectively.</a:t>
            </a:r>
          </a:p>
          <a:p>
            <a:pPr>
              <a:spcAft>
                <a:spcPts val="900"/>
              </a:spcAft>
              <a:defRPr sz="1900" b="0">
                <a:solidFill>
                  <a:srgbClr val="4B5B61"/>
                </a:solidFill>
                <a:latin typeface="Aptos"/>
              </a:defRPr>
            </a:pPr>
            <a:endParaRPr/>
          </a:p>
          <a:p>
            <a:pPr>
              <a:spcAft>
                <a:spcPts val="900"/>
              </a:spcAft>
              <a:defRPr sz="1900" b="0">
                <a:solidFill>
                  <a:srgbClr val="4B5B61"/>
                </a:solidFill>
                <a:latin typeface="Aptos"/>
              </a:defRPr>
            </a:pPr>
            <a:r>
              <a:t>The system aims to reduce avoidable trips, fuel use, collection time and overflowing bins. Its design can use classes such as WastePoint, CollectionPlan and MunicipalSystem, supported by validation and exception handling.</a:t>
            </a:r>
          </a:p>
          <a:p>
            <a:pPr>
              <a:spcAft>
                <a:spcPts val="900"/>
              </a:spcAft>
              <a:defRPr sz="1900" b="0">
                <a:solidFill>
                  <a:srgbClr val="4B5B61"/>
                </a:solidFill>
                <a:latin typeface="Aptos"/>
              </a:defRPr>
            </a:pPr>
            <a:endParaRPr/>
          </a:p>
          <a:p>
            <a:pPr>
              <a:spcAft>
                <a:spcPts val="900"/>
              </a:spcAft>
              <a:defRPr sz="1900" b="0">
                <a:solidFill>
                  <a:srgbClr val="4B5B61"/>
                </a:solidFill>
                <a:latin typeface="Aptos"/>
              </a:defRPr>
            </a:pPr>
            <a:r>
              <a:t>Expected outcome: a clear priority list and collection plan that supports cleaner, healthier neighbourhoods.</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r>
              <a:t>2</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wrap="square" lIns="137160" tIns="109728" rIns="137160" bIns="91440"/>
          <a:lstStyle/>
          <a:p>
            <a:pPr>
              <a:spcAft>
                <a:spcPts val="900"/>
              </a:spcAft>
              <a:defRPr sz="2600" b="1">
                <a:solidFill>
                  <a:srgbClr val="163944"/>
                </a:solidFill>
                <a:latin typeface="Aptos"/>
              </a:defRPr>
            </a:pPr>
            <a:r>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p:txBody>
          <a:bodyPr wrap="square" lIns="137160" tIns="109728" rIns="137160" bIns="91440">
            <a:normAutofit fontScale="62500" lnSpcReduction="20000"/>
          </a:bodyPr>
          <a:lstStyle/>
          <a:p>
            <a:pPr>
              <a:spcAft>
                <a:spcPts val="900"/>
              </a:spcAft>
              <a:defRPr sz="1800" b="0">
                <a:solidFill>
                  <a:srgbClr val="4B5B61"/>
                </a:solidFill>
                <a:latin typeface="Aptos"/>
              </a:defRPr>
            </a:pPr>
            <a:r>
              <a:rPr dirty="0"/>
              <a:t>Problem:</a:t>
            </a:r>
            <a:endParaRPr lang="en-IN" dirty="0"/>
          </a:p>
          <a:p>
            <a:pPr>
              <a:spcAft>
                <a:spcPts val="900"/>
              </a:spcAft>
              <a:defRPr sz="1800" b="0">
                <a:solidFill>
                  <a:srgbClr val="4B5B61"/>
                </a:solidFill>
                <a:latin typeface="Aptos"/>
              </a:defRPr>
            </a:pPr>
            <a:r>
              <a:rPr dirty="0"/>
              <a:t>• Fixed collection schedules may send vehicles to bins that are only partly full.</a:t>
            </a:r>
          </a:p>
          <a:p>
            <a:pPr>
              <a:spcAft>
                <a:spcPts val="900"/>
              </a:spcAft>
              <a:defRPr sz="1800" b="0">
                <a:solidFill>
                  <a:srgbClr val="4B5B61"/>
                </a:solidFill>
                <a:latin typeface="Aptos"/>
              </a:defRPr>
            </a:pPr>
            <a:r>
              <a:rPr dirty="0"/>
              <a:t>• Other bins may overflow before the next planned visit.</a:t>
            </a:r>
          </a:p>
          <a:p>
            <a:pPr>
              <a:spcAft>
                <a:spcPts val="900"/>
              </a:spcAft>
              <a:defRPr sz="1800" b="0">
                <a:solidFill>
                  <a:srgbClr val="4B5B61"/>
                </a:solidFill>
                <a:latin typeface="Aptos"/>
              </a:defRPr>
            </a:pPr>
            <a:r>
              <a:rPr dirty="0"/>
              <a:t>• Extra trips increase fuel consumption, time and operating costs.</a:t>
            </a:r>
          </a:p>
          <a:p>
            <a:pPr>
              <a:spcAft>
                <a:spcPts val="900"/>
              </a:spcAft>
              <a:defRPr sz="1800" b="0">
                <a:solidFill>
                  <a:srgbClr val="4B5B61"/>
                </a:solidFill>
                <a:latin typeface="Aptos"/>
              </a:defRPr>
            </a:pPr>
            <a:endParaRPr dirty="0"/>
          </a:p>
          <a:p>
            <a:pPr>
              <a:spcAft>
                <a:spcPts val="900"/>
              </a:spcAft>
              <a:defRPr sz="1800" b="0">
                <a:solidFill>
                  <a:srgbClr val="4B5B61"/>
                </a:solidFill>
                <a:latin typeface="Aptos"/>
              </a:defRPr>
            </a:pPr>
            <a:r>
              <a:rPr dirty="0"/>
              <a:t>Proposed solution:</a:t>
            </a:r>
          </a:p>
          <a:p>
            <a:pPr>
              <a:spcAft>
                <a:spcPts val="900"/>
              </a:spcAft>
              <a:defRPr sz="1800" b="0">
                <a:solidFill>
                  <a:srgbClr val="4B5B61"/>
                </a:solidFill>
                <a:latin typeface="Aptos"/>
              </a:defRPr>
            </a:pPr>
            <a:r>
              <a:rPr dirty="0"/>
              <a:t>• Record each collection point’s ID, location and waste level.</a:t>
            </a:r>
          </a:p>
          <a:p>
            <a:pPr>
              <a:spcAft>
                <a:spcPts val="900"/>
              </a:spcAft>
              <a:defRPr sz="1800" b="0">
                <a:solidFill>
                  <a:srgbClr val="4B5B61"/>
                </a:solidFill>
                <a:latin typeface="Aptos"/>
              </a:defRPr>
            </a:pPr>
            <a:r>
              <a:rPr dirty="0"/>
              <a:t>• Classify levels as High, Medium, Low or Very Low.</a:t>
            </a:r>
          </a:p>
          <a:p>
            <a:pPr>
              <a:spcAft>
                <a:spcPts val="900"/>
              </a:spcAft>
              <a:defRPr sz="1800" b="0">
                <a:solidFill>
                  <a:srgbClr val="4B5B61"/>
                </a:solidFill>
                <a:latin typeface="Aptos"/>
              </a:defRPr>
            </a:pPr>
            <a:r>
              <a:rPr dirty="0"/>
              <a:t>• </a:t>
            </a:r>
            <a:r>
              <a:rPr dirty="0" err="1"/>
              <a:t>Prioritise</a:t>
            </a:r>
            <a:r>
              <a:rPr dirty="0"/>
              <a:t> fuller bins and generate an </a:t>
            </a:r>
            <a:r>
              <a:rPr dirty="0" err="1"/>
              <a:t>organised</a:t>
            </a:r>
            <a:r>
              <a:rPr dirty="0"/>
              <a:t> collection order.</a:t>
            </a:r>
          </a:p>
          <a:p>
            <a:pPr>
              <a:spcAft>
                <a:spcPts val="900"/>
              </a:spcAft>
              <a:defRPr sz="1800" b="0">
                <a:solidFill>
                  <a:srgbClr val="4B5B61"/>
                </a:solidFill>
                <a:latin typeface="Aptos"/>
              </a:defRPr>
            </a:pPr>
            <a:r>
              <a:rPr dirty="0"/>
              <a:t>• Display a collection plan that can be reviewed by municipal s</a:t>
            </a:r>
          </a:p>
          <a:p>
            <a:pPr>
              <a:spcAft>
                <a:spcPts val="900"/>
              </a:spcAft>
              <a:defRPr sz="1800" b="0">
                <a:solidFill>
                  <a:srgbClr val="4B5B61"/>
                </a:solidFill>
                <a:latin typeface="Aptos"/>
              </a:defRPr>
            </a:pPr>
            <a:endParaRPr dirty="0"/>
          </a:p>
          <a:p>
            <a:pPr>
              <a:spcAft>
                <a:spcPts val="900"/>
              </a:spcAft>
              <a:defRPr sz="1800" b="0">
                <a:solidFill>
                  <a:srgbClr val="4B5B61"/>
                </a:solidFill>
                <a:latin typeface="Aptos"/>
              </a:defRPr>
            </a:pPr>
            <a:r>
              <a:rPr dirty="0"/>
              <a:t>Scope note: the basic project demonstrates priority-based planning. GPS distances, live sensors and traffic-aware routing can be future enhancements.</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r>
              <a:t>3</a:t>
            </a:r>
          </a:p>
        </p:txBody>
      </p:sp>
      <p:sp>
        <p:nvSpPr>
          <p:cNvPr id="6" name="Rounded Rectangle 5"/>
          <p:cNvSpPr/>
          <p:nvPr/>
        </p:nvSpPr>
        <p:spPr>
          <a:xfrm>
            <a:off x="868680" y="5257800"/>
            <a:ext cx="3246120" cy="713232"/>
          </a:xfrm>
          <a:prstGeom prst="roundRect">
            <a:avLst/>
          </a:prstGeom>
          <a:solidFill>
            <a:srgbClr val="FAF4DE"/>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8680" y="5257800"/>
            <a:ext cx="73152" cy="713232"/>
          </a:xfrm>
          <a:prstGeom prst="rect">
            <a:avLst/>
          </a:prstGeom>
          <a:solidFill>
            <a:srgbClr val="C9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1" y="5367528"/>
            <a:ext cx="2971800" cy="310896"/>
          </a:xfrm>
          <a:prstGeom prst="rect">
            <a:avLst/>
          </a:prstGeom>
          <a:noFill/>
        </p:spPr>
        <p:txBody>
          <a:bodyPr wrap="square" lIns="54864" tIns="36576" rIns="54864" bIns="27432">
            <a:spAutoFit/>
          </a:bodyPr>
          <a:lstStyle/>
          <a:p>
            <a:pPr algn="l">
              <a:defRPr sz="1600" b="1">
                <a:solidFill>
                  <a:srgbClr val="C95D4C"/>
                </a:solidFill>
                <a:latin typeface="Aptos"/>
              </a:defRPr>
            </a:pPr>
            <a:r>
              <a:t>PROBLEM</a:t>
            </a:r>
          </a:p>
        </p:txBody>
      </p:sp>
      <p:sp>
        <p:nvSpPr>
          <p:cNvPr id="9" name="TextBox 8"/>
          <p:cNvSpPr txBox="1"/>
          <p:nvPr/>
        </p:nvSpPr>
        <p:spPr>
          <a:xfrm>
            <a:off x="1033271" y="5733288"/>
            <a:ext cx="2953512" cy="182880"/>
          </a:xfrm>
          <a:prstGeom prst="rect">
            <a:avLst/>
          </a:prstGeom>
          <a:noFill/>
        </p:spPr>
        <p:txBody>
          <a:bodyPr wrap="square" lIns="54864" tIns="36576" rIns="54864" bIns="27432">
            <a:spAutoFit/>
          </a:bodyPr>
          <a:lstStyle/>
          <a:p>
            <a:pPr algn="l">
              <a:defRPr sz="1200" b="0">
                <a:solidFill>
                  <a:srgbClr val="4B5B61"/>
                </a:solidFill>
                <a:latin typeface="Aptos"/>
              </a:defRPr>
            </a:pPr>
            <a:r>
              <a:t>Overflow + unnecessary trips</a:t>
            </a:r>
          </a:p>
        </p:txBody>
      </p:sp>
      <p:sp>
        <p:nvSpPr>
          <p:cNvPr id="10" name="Rounded Rectangle 9"/>
          <p:cNvSpPr/>
          <p:nvPr/>
        </p:nvSpPr>
        <p:spPr>
          <a:xfrm>
            <a:off x="4407408" y="5257800"/>
            <a:ext cx="3246120" cy="713232"/>
          </a:xfrm>
          <a:prstGeom prst="roundRect">
            <a:avLst/>
          </a:prstGeom>
          <a:solidFill>
            <a:srgbClr val="E8F3E7"/>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07408" y="5257800"/>
            <a:ext cx="73152" cy="713232"/>
          </a:xfrm>
          <a:prstGeom prst="rect">
            <a:avLst/>
          </a:prstGeom>
          <a:solidFill>
            <a:srgbClr val="288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5367528"/>
            <a:ext cx="2971800" cy="310896"/>
          </a:xfrm>
          <a:prstGeom prst="rect">
            <a:avLst/>
          </a:prstGeom>
          <a:noFill/>
        </p:spPr>
        <p:txBody>
          <a:bodyPr wrap="square" lIns="54864" tIns="36576" rIns="54864" bIns="27432">
            <a:spAutoFit/>
          </a:bodyPr>
          <a:lstStyle/>
          <a:p>
            <a:pPr algn="l">
              <a:defRPr sz="1600" b="1">
                <a:solidFill>
                  <a:srgbClr val="28804E"/>
                </a:solidFill>
                <a:latin typeface="Aptos"/>
              </a:defRPr>
            </a:pPr>
            <a:r>
              <a:t>SOLUTION</a:t>
            </a:r>
          </a:p>
        </p:txBody>
      </p:sp>
      <p:sp>
        <p:nvSpPr>
          <p:cNvPr id="13" name="TextBox 12"/>
          <p:cNvSpPr txBox="1"/>
          <p:nvPr/>
        </p:nvSpPr>
        <p:spPr>
          <a:xfrm>
            <a:off x="4572000" y="5733288"/>
            <a:ext cx="2953512" cy="182880"/>
          </a:xfrm>
          <a:prstGeom prst="rect">
            <a:avLst/>
          </a:prstGeom>
          <a:noFill/>
        </p:spPr>
        <p:txBody>
          <a:bodyPr wrap="square" lIns="54864" tIns="36576" rIns="54864" bIns="27432">
            <a:spAutoFit/>
          </a:bodyPr>
          <a:lstStyle/>
          <a:p>
            <a:pPr algn="l">
              <a:defRPr sz="1200" b="0">
                <a:solidFill>
                  <a:srgbClr val="4B5B61"/>
                </a:solidFill>
                <a:latin typeface="Aptos"/>
              </a:defRPr>
            </a:pPr>
            <a:r>
              <a:t>Priority-based collection</a:t>
            </a:r>
          </a:p>
        </p:txBody>
      </p:sp>
      <p:sp>
        <p:nvSpPr>
          <p:cNvPr id="14" name="Rounded Rectangle 13"/>
          <p:cNvSpPr/>
          <p:nvPr/>
        </p:nvSpPr>
        <p:spPr>
          <a:xfrm>
            <a:off x="7946136" y="5257800"/>
            <a:ext cx="3246120" cy="713232"/>
          </a:xfrm>
          <a:prstGeom prst="roundRect">
            <a:avLst/>
          </a:prstGeom>
          <a:solidFill>
            <a:srgbClr val="E8F1F8"/>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46136" y="5257800"/>
            <a:ext cx="73152" cy="713232"/>
          </a:xfrm>
          <a:prstGeom prst="rect">
            <a:avLst/>
          </a:prstGeom>
          <a:solidFill>
            <a:srgbClr val="3D76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0727" y="5367528"/>
            <a:ext cx="2971800" cy="310896"/>
          </a:xfrm>
          <a:prstGeom prst="rect">
            <a:avLst/>
          </a:prstGeom>
          <a:noFill/>
        </p:spPr>
        <p:txBody>
          <a:bodyPr wrap="square" lIns="54864" tIns="36576" rIns="54864" bIns="27432">
            <a:spAutoFit/>
          </a:bodyPr>
          <a:lstStyle/>
          <a:p>
            <a:pPr algn="l">
              <a:defRPr sz="1600" b="1">
                <a:solidFill>
                  <a:srgbClr val="3D76AD"/>
                </a:solidFill>
                <a:latin typeface="Aptos"/>
              </a:defRPr>
            </a:pPr>
            <a:r>
              <a:t>IMPACT</a:t>
            </a:r>
          </a:p>
        </p:txBody>
      </p:sp>
      <p:sp>
        <p:nvSpPr>
          <p:cNvPr id="17" name="TextBox 16"/>
          <p:cNvSpPr txBox="1"/>
          <p:nvPr/>
        </p:nvSpPr>
        <p:spPr>
          <a:xfrm>
            <a:off x="8110727" y="5733288"/>
            <a:ext cx="2953512" cy="182880"/>
          </a:xfrm>
          <a:prstGeom prst="rect">
            <a:avLst/>
          </a:prstGeom>
          <a:noFill/>
        </p:spPr>
        <p:txBody>
          <a:bodyPr wrap="square" lIns="54864" tIns="36576" rIns="54864" bIns="27432">
            <a:spAutoFit/>
          </a:bodyPr>
          <a:lstStyle/>
          <a:p>
            <a:pPr algn="l">
              <a:defRPr sz="1200" b="0">
                <a:solidFill>
                  <a:srgbClr val="4B5B61"/>
                </a:solidFill>
                <a:latin typeface="Aptos"/>
              </a:defRPr>
            </a:pPr>
            <a:r>
              <a:t>Time, fuel and cost savings</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wrap="square" lIns="137160" tIns="109728" rIns="137160" bIns="91440"/>
          <a:lstStyle/>
          <a:p>
            <a:pPr>
              <a:spcAft>
                <a:spcPts val="900"/>
              </a:spcAft>
              <a:defRPr sz="2600" b="1">
                <a:solidFill>
                  <a:srgbClr val="163944"/>
                </a:solidFill>
                <a:latin typeface="Aptos"/>
              </a:defRPr>
            </a:pPr>
            <a:r>
              <a:t>CO1 — From Problem to Program</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Concepts used</a:t>
            </a:r>
            <a:endParaRPr lang="en-IN"/>
          </a:p>
          <a:p>
            <a:pPr>
              <a:spcAft>
                <a:spcPts val="900"/>
              </a:spcAft>
              <a:defRPr sz="1800" b="0">
                <a:solidFill>
                  <a:srgbClr val="4B5B61"/>
                </a:solidFill>
                <a:latin typeface="Aptos"/>
              </a:defRPr>
            </a:pPr>
            <a:r>
              <a:t>• Data types and variables store IDs, locations, waste percentages and totals.</a:t>
            </a:r>
          </a:p>
          <a:p>
            <a:pPr>
              <a:spcAft>
                <a:spcPts val="900"/>
              </a:spcAft>
              <a:defRPr sz="1800" b="0">
                <a:solidFill>
                  <a:srgbClr val="4B5B61"/>
                </a:solidFill>
                <a:latin typeface="Aptos"/>
              </a:defRPr>
            </a:pPr>
            <a:r>
              <a:t>• Expressions compare waste levels and calculate summary values.</a:t>
            </a:r>
          </a:p>
          <a:p>
            <a:pPr>
              <a:spcAft>
                <a:spcPts val="900"/>
              </a:spcAft>
              <a:defRPr sz="1800" b="0">
                <a:solidFill>
                  <a:srgbClr val="4B5B61"/>
                </a:solidFill>
                <a:latin typeface="Aptos"/>
              </a:defRPr>
            </a:pPr>
            <a:r>
              <a:t>• Console input/output can collect values and display the collection plan.</a:t>
            </a:r>
          </a:p>
          <a:p>
            <a:pPr>
              <a:spcAft>
                <a:spcPts val="900"/>
              </a:spcAft>
              <a:defRPr sz="1800" b="0">
                <a:solidFill>
                  <a:srgbClr val="4B5B61"/>
                </a:solidFill>
                <a:latin typeface="Aptos"/>
              </a:defRPr>
            </a:pPr>
            <a:r>
              <a:t>• An algorithm converts the problem into a sequence of clear steps.</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Project application</a:t>
            </a:r>
          </a:p>
          <a:p>
            <a:pPr>
              <a:spcAft>
                <a:spcPts val="900"/>
              </a:spcAft>
              <a:defRPr sz="1800" b="0">
                <a:solidFill>
                  <a:srgbClr val="4B5B61"/>
                </a:solidFill>
                <a:latin typeface="Aptos"/>
              </a:defRPr>
            </a:pPr>
            <a:r>
              <a:t>1. Read collection-point details.</a:t>
            </a:r>
          </a:p>
          <a:p>
            <a:pPr>
              <a:spcAft>
                <a:spcPts val="900"/>
              </a:spcAft>
              <a:defRPr sz="1800" b="0">
                <a:solidFill>
                  <a:srgbClr val="4B5B61"/>
                </a:solidFill>
                <a:latin typeface="Aptos"/>
              </a:defRPr>
            </a:pPr>
            <a:r>
              <a:t>2. Validate the entered waste percentage.</a:t>
            </a:r>
          </a:p>
          <a:p>
            <a:pPr>
              <a:spcAft>
                <a:spcPts val="900"/>
              </a:spcAft>
              <a:defRPr sz="1800" b="0">
                <a:solidFill>
                  <a:srgbClr val="4B5B61"/>
                </a:solidFill>
                <a:latin typeface="Aptos"/>
              </a:defRPr>
            </a:pPr>
            <a:r>
              <a:t>3. Assign a priority category.</a:t>
            </a:r>
          </a:p>
          <a:p>
            <a:pPr>
              <a:spcAft>
                <a:spcPts val="900"/>
              </a:spcAft>
              <a:defRPr sz="1800" b="0">
                <a:solidFill>
                  <a:srgbClr val="4B5B61"/>
                </a:solidFill>
                <a:latin typeface="Aptos"/>
              </a:defRPr>
            </a:pPr>
            <a:r>
              <a:t>4. Display the prioritised collection list.</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Example: wasteLevel = 82 → category = High → higher collection priority.</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r>
              <a:t>4</a:t>
            </a:r>
          </a:p>
        </p:txBody>
      </p:sp>
      <p:sp>
        <p:nvSpPr>
          <p:cNvPr id="6" name="Rounded Rectangle 5"/>
          <p:cNvSpPr/>
          <p:nvPr/>
        </p:nvSpPr>
        <p:spPr>
          <a:xfrm>
            <a:off x="7452360" y="4343400"/>
            <a:ext cx="3429000" cy="1097280"/>
          </a:xfrm>
          <a:prstGeom prst="roundRect">
            <a:avLst/>
          </a:prstGeom>
          <a:solidFill>
            <a:srgbClr val="E8F3E7"/>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52360" y="4343400"/>
            <a:ext cx="73152" cy="1097280"/>
          </a:xfrm>
          <a:prstGeom prst="rect">
            <a:avLst/>
          </a:prstGeom>
          <a:solidFill>
            <a:srgbClr val="288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16952" y="4453128"/>
            <a:ext cx="3154680" cy="310896"/>
          </a:xfrm>
          <a:prstGeom prst="rect">
            <a:avLst/>
          </a:prstGeom>
          <a:noFill/>
        </p:spPr>
        <p:txBody>
          <a:bodyPr wrap="square" lIns="54864" tIns="36576" rIns="54864" bIns="27432">
            <a:spAutoFit/>
          </a:bodyPr>
          <a:lstStyle/>
          <a:p>
            <a:pPr algn="l">
              <a:defRPr sz="1600" b="1">
                <a:solidFill>
                  <a:srgbClr val="28804E"/>
                </a:solidFill>
                <a:latin typeface="Aptos"/>
              </a:defRPr>
            </a:pPr>
            <a:r>
              <a:t>INPUT → PROCESS → OUTPUT</a:t>
            </a:r>
          </a:p>
        </p:txBody>
      </p:sp>
      <p:sp>
        <p:nvSpPr>
          <p:cNvPr id="9" name="TextBox 8"/>
          <p:cNvSpPr txBox="1"/>
          <p:nvPr/>
        </p:nvSpPr>
        <p:spPr>
          <a:xfrm>
            <a:off x="7616952" y="4818888"/>
            <a:ext cx="3136392" cy="566928"/>
          </a:xfrm>
          <a:prstGeom prst="rect">
            <a:avLst/>
          </a:prstGeom>
          <a:noFill/>
        </p:spPr>
        <p:txBody>
          <a:bodyPr wrap="square" lIns="54864" tIns="36576" rIns="54864" bIns="27432">
            <a:spAutoFit/>
          </a:bodyPr>
          <a:lstStyle/>
          <a:p>
            <a:pPr algn="l">
              <a:defRPr sz="1200" b="0">
                <a:solidFill>
                  <a:srgbClr val="4B5B61"/>
                </a:solidFill>
                <a:latin typeface="Aptos"/>
              </a:defRPr>
            </a:pPr>
            <a:r>
              <a:t>Bin details → classify and prioritise → collection plan</a:t>
            </a:r>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wrap="square" lIns="137160" tIns="109728" rIns="137160" bIns="91440"/>
          <a:lstStyle/>
          <a:p>
            <a:pPr>
              <a:spcAft>
                <a:spcPts val="900"/>
              </a:spcAft>
              <a:defRPr sz="2500" b="1">
                <a:solidFill>
                  <a:srgbClr val="163944"/>
                </a:solidFill>
                <a:latin typeface="Aptos"/>
              </a:defRPr>
            </a:pPr>
            <a:r>
              <a:t>CO2 — Understanding Loops and Conditions</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Selection (if / else)</a:t>
            </a:r>
            <a:endParaRPr lang="en-IN"/>
          </a:p>
          <a:p>
            <a:pPr>
              <a:spcAft>
                <a:spcPts val="900"/>
              </a:spcAft>
              <a:defRPr sz="1800" b="0">
                <a:solidFill>
                  <a:srgbClr val="4B5B61"/>
                </a:solidFill>
                <a:latin typeface="Aptos"/>
              </a:defRPr>
            </a:pPr>
            <a:r>
              <a:t>• Checks whether a waste level is High, Medium, Low or Very Low.</a:t>
            </a:r>
          </a:p>
          <a:p>
            <a:pPr>
              <a:spcAft>
                <a:spcPts val="900"/>
              </a:spcAft>
              <a:defRPr sz="1800" b="0">
                <a:solidFill>
                  <a:srgbClr val="4B5B61"/>
                </a:solidFill>
                <a:latin typeface="Aptos"/>
              </a:defRPr>
            </a:pPr>
            <a:r>
              <a:t>• Rejects values outside the allowed range of 0–100%.</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Iteration (for / while)</a:t>
            </a:r>
          </a:p>
          <a:p>
            <a:pPr>
              <a:spcAft>
                <a:spcPts val="900"/>
              </a:spcAft>
              <a:defRPr sz="1800" b="0">
                <a:solidFill>
                  <a:srgbClr val="4B5B61"/>
                </a:solidFill>
                <a:latin typeface="Aptos"/>
              </a:defRPr>
            </a:pPr>
            <a:r>
              <a:t>• Processes every collection point.</a:t>
            </a:r>
          </a:p>
          <a:p>
            <a:pPr>
              <a:spcAft>
                <a:spcPts val="900"/>
              </a:spcAft>
              <a:defRPr sz="1800" b="0">
                <a:solidFill>
                  <a:srgbClr val="4B5B61"/>
                </a:solidFill>
                <a:latin typeface="Aptos"/>
              </a:defRPr>
            </a:pPr>
            <a:r>
              <a:t>• Repeats input until valid data is provided, if implemented.</a:t>
            </a:r>
          </a:p>
          <a:p>
            <a:pPr>
              <a:spcAft>
                <a:spcPts val="900"/>
              </a:spcAft>
              <a:defRPr sz="1800" b="0">
                <a:solidFill>
                  <a:srgbClr val="4B5B61"/>
                </a:solidFill>
                <a:latin typeface="Aptos"/>
              </a:defRPr>
            </a:pPr>
            <a:r>
              <a:t>• Traverses the list to create the collection order.</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Illustrative classification bands</a:t>
            </a:r>
          </a:p>
          <a:p>
            <a:pPr>
              <a:spcAft>
                <a:spcPts val="900"/>
              </a:spcAft>
              <a:defRPr sz="1800" b="0">
                <a:solidFill>
                  <a:srgbClr val="4B5B61"/>
                </a:solidFill>
                <a:latin typeface="Aptos"/>
              </a:defRPr>
            </a:pPr>
            <a:r>
              <a:t>• High: 76–100%</a:t>
            </a:r>
          </a:p>
          <a:p>
            <a:pPr>
              <a:spcAft>
                <a:spcPts val="900"/>
              </a:spcAft>
              <a:defRPr sz="1800" b="0">
                <a:solidFill>
                  <a:srgbClr val="4B5B61"/>
                </a:solidFill>
                <a:latin typeface="Aptos"/>
              </a:defRPr>
            </a:pPr>
            <a:r>
              <a:t>• Medium: 51–75%</a:t>
            </a:r>
          </a:p>
          <a:p>
            <a:pPr>
              <a:spcAft>
                <a:spcPts val="900"/>
              </a:spcAft>
              <a:defRPr sz="1800" b="0">
                <a:solidFill>
                  <a:srgbClr val="4B5B61"/>
                </a:solidFill>
                <a:latin typeface="Aptos"/>
              </a:defRPr>
            </a:pPr>
            <a:r>
              <a:t>• Low: 26–50%</a:t>
            </a:r>
          </a:p>
          <a:p>
            <a:pPr>
              <a:spcAft>
                <a:spcPts val="900"/>
              </a:spcAft>
              <a:defRPr sz="1800" b="0">
                <a:solidFill>
                  <a:srgbClr val="4B5B61"/>
                </a:solidFill>
                <a:latin typeface="Aptos"/>
              </a:defRPr>
            </a:pPr>
            <a:r>
              <a:t>• Very Low: 0–25%</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Boundary values should be tested to ensure each percentage belongs to the intended category.</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r>
              <a:t>5</a:t>
            </a:r>
          </a:p>
        </p:txBody>
      </p:sp>
      <p:sp>
        <p:nvSpPr>
          <p:cNvPr id="6" name="Rounded Rectangle 5"/>
          <p:cNvSpPr/>
          <p:nvPr/>
        </p:nvSpPr>
        <p:spPr>
          <a:xfrm>
            <a:off x="7498079" y="4754880"/>
            <a:ext cx="3337560" cy="841248"/>
          </a:xfrm>
          <a:prstGeom prst="roundRect">
            <a:avLst/>
          </a:prstGeom>
          <a:solidFill>
            <a:srgbClr val="FAF4DE"/>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79" y="4754880"/>
            <a:ext cx="73152" cy="841248"/>
          </a:xfrm>
          <a:prstGeom prst="rect">
            <a:avLst/>
          </a:prstGeom>
          <a:solidFill>
            <a:srgbClr val="DCA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1" y="4864608"/>
            <a:ext cx="3063240" cy="310896"/>
          </a:xfrm>
          <a:prstGeom prst="rect">
            <a:avLst/>
          </a:prstGeom>
          <a:noFill/>
        </p:spPr>
        <p:txBody>
          <a:bodyPr wrap="square" lIns="54864" tIns="36576" rIns="54864" bIns="27432">
            <a:spAutoFit/>
          </a:bodyPr>
          <a:lstStyle/>
          <a:p>
            <a:pPr algn="l">
              <a:defRPr sz="1600" b="1">
                <a:solidFill>
                  <a:srgbClr val="DCA534"/>
                </a:solidFill>
                <a:latin typeface="Aptos"/>
              </a:defRPr>
            </a:pPr>
            <a:r>
              <a:t>LOGIC RULE</a:t>
            </a:r>
          </a:p>
        </p:txBody>
      </p:sp>
      <p:sp>
        <p:nvSpPr>
          <p:cNvPr id="9" name="TextBox 8"/>
          <p:cNvSpPr txBox="1"/>
          <p:nvPr/>
        </p:nvSpPr>
        <p:spPr>
          <a:xfrm>
            <a:off x="7662671" y="5230368"/>
            <a:ext cx="3044952" cy="310896"/>
          </a:xfrm>
          <a:prstGeom prst="rect">
            <a:avLst/>
          </a:prstGeom>
          <a:noFill/>
        </p:spPr>
        <p:txBody>
          <a:bodyPr wrap="square" lIns="54864" tIns="36576" rIns="54864" bIns="27432">
            <a:spAutoFit/>
          </a:bodyPr>
          <a:lstStyle/>
          <a:p>
            <a:pPr algn="l">
              <a:defRPr sz="1200" b="0">
                <a:solidFill>
                  <a:srgbClr val="4B5B61"/>
                </a:solidFill>
                <a:latin typeface="Aptos"/>
              </a:defRPr>
            </a:pPr>
            <a:r>
              <a:t>Higher waste level = higher priority</a:t>
            </a:r>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wrap="square" lIns="137160" tIns="109728" rIns="137160" bIns="91440"/>
          <a:lstStyle/>
          <a:p>
            <a:pPr>
              <a:spcAft>
                <a:spcPts val="900"/>
              </a:spcAft>
              <a:defRPr sz="2400" b="1">
                <a:solidFill>
                  <a:srgbClr val="163944"/>
                </a:solidFill>
                <a:latin typeface="Aptos"/>
              </a:defRPr>
            </a:pPr>
            <a:r>
              <a:t>CO3 — Applying Methods, Recursion &amp; Arrays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Methods keep the program modular and easier to test.</a:t>
            </a:r>
            <a:endParaRPr lang="en-IN"/>
          </a:p>
          <a:p>
            <a:pPr>
              <a:spcAft>
                <a:spcPts val="900"/>
              </a:spcAft>
              <a:defRPr sz="1800" b="0">
                <a:solidFill>
                  <a:srgbClr val="4B5B61"/>
                </a:solidFill>
                <a:latin typeface="Aptos"/>
              </a:defRPr>
            </a:pPr>
            <a:endParaRPr lang="en-IN"/>
          </a:p>
          <a:p>
            <a:pPr>
              <a:spcAft>
                <a:spcPts val="900"/>
              </a:spcAft>
              <a:defRPr sz="1800" b="0">
                <a:solidFill>
                  <a:srgbClr val="4B5B61"/>
                </a:solidFill>
                <a:latin typeface="Aptos"/>
              </a:defRPr>
            </a:pPr>
            <a:r>
              <a:t>Suggested methods</a:t>
            </a:r>
          </a:p>
          <a:p>
            <a:pPr>
              <a:spcAft>
                <a:spcPts val="900"/>
              </a:spcAft>
              <a:defRPr sz="1800" b="0">
                <a:solidFill>
                  <a:srgbClr val="4B5B61"/>
                </a:solidFill>
                <a:latin typeface="Aptos"/>
              </a:defRPr>
            </a:pPr>
            <a:r>
              <a:t>• validateWasteLevel(level)</a:t>
            </a:r>
          </a:p>
          <a:p>
            <a:pPr>
              <a:spcAft>
                <a:spcPts val="900"/>
              </a:spcAft>
              <a:defRPr sz="1800" b="0">
                <a:solidFill>
                  <a:srgbClr val="4B5B61"/>
                </a:solidFill>
                <a:latin typeface="Aptos"/>
              </a:defRPr>
            </a:pPr>
            <a:r>
              <a:t>• classifyWaste(level)</a:t>
            </a:r>
          </a:p>
          <a:p>
            <a:pPr>
              <a:spcAft>
                <a:spcPts val="900"/>
              </a:spcAft>
              <a:defRPr sz="1800" b="0">
                <a:solidFill>
                  <a:srgbClr val="4B5B61"/>
                </a:solidFill>
                <a:latin typeface="Aptos"/>
              </a:defRPr>
            </a:pPr>
            <a:r>
              <a:t>• sortCollectionPoints(points)</a:t>
            </a:r>
          </a:p>
          <a:p>
            <a:pPr>
              <a:spcAft>
                <a:spcPts val="900"/>
              </a:spcAft>
              <a:defRPr sz="1800" b="0">
                <a:solidFill>
                  <a:srgbClr val="4B5B61"/>
                </a:solidFill>
                <a:latin typeface="Aptos"/>
              </a:defRPr>
            </a:pPr>
            <a:r>
              <a:t>• generateCollectionPlan(points)</a:t>
            </a:r>
          </a:p>
          <a:p>
            <a:pPr>
              <a:spcAft>
                <a:spcPts val="900"/>
              </a:spcAft>
              <a:defRPr sz="1800" b="0">
                <a:solidFill>
                  <a:srgbClr val="4B5B61"/>
                </a:solidFill>
                <a:latin typeface="Aptos"/>
              </a:defRPr>
            </a:pPr>
            <a:r>
              <a:t>• displayReport(plan)</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Arrays or lists can store multiple collection points and their levels. A loop processes the data, while methods separate validation, classification and output.</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Recursion is not essential for the basic solution; if required by the course, it can be demonstrated separately for a suitable task rather than forcing it into route planning.</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r>
              <a:t>6</a:t>
            </a:r>
          </a:p>
        </p:txBody>
      </p:sp>
      <p:sp>
        <p:nvSpPr>
          <p:cNvPr id="6" name="Rounded Rectangle 5"/>
          <p:cNvSpPr/>
          <p:nvPr/>
        </p:nvSpPr>
        <p:spPr>
          <a:xfrm>
            <a:off x="7498079" y="4773168"/>
            <a:ext cx="3337560" cy="822960"/>
          </a:xfrm>
          <a:prstGeom prst="roundRect">
            <a:avLst/>
          </a:prstGeom>
          <a:solidFill>
            <a:srgbClr val="E8F1F8"/>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79" y="4773168"/>
            <a:ext cx="73152" cy="822960"/>
          </a:xfrm>
          <a:prstGeom prst="rect">
            <a:avLst/>
          </a:prstGeom>
          <a:solidFill>
            <a:srgbClr val="3D76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1" y="4882896"/>
            <a:ext cx="3063240" cy="310896"/>
          </a:xfrm>
          <a:prstGeom prst="rect">
            <a:avLst/>
          </a:prstGeom>
          <a:noFill/>
        </p:spPr>
        <p:txBody>
          <a:bodyPr wrap="square" lIns="54864" tIns="36576" rIns="54864" bIns="27432">
            <a:spAutoFit/>
          </a:bodyPr>
          <a:lstStyle/>
          <a:p>
            <a:pPr algn="l">
              <a:defRPr sz="1600" b="1">
                <a:solidFill>
                  <a:srgbClr val="3D76AD"/>
                </a:solidFill>
                <a:latin typeface="Aptos"/>
              </a:defRPr>
            </a:pPr>
            <a:r>
              <a:t>DESIGN BENEFIT</a:t>
            </a:r>
          </a:p>
        </p:txBody>
      </p:sp>
      <p:sp>
        <p:nvSpPr>
          <p:cNvPr id="9" name="TextBox 8"/>
          <p:cNvSpPr txBox="1"/>
          <p:nvPr/>
        </p:nvSpPr>
        <p:spPr>
          <a:xfrm>
            <a:off x="7662671" y="5248656"/>
            <a:ext cx="3044952" cy="292608"/>
          </a:xfrm>
          <a:prstGeom prst="rect">
            <a:avLst/>
          </a:prstGeom>
          <a:noFill/>
        </p:spPr>
        <p:txBody>
          <a:bodyPr wrap="square" lIns="54864" tIns="36576" rIns="54864" bIns="27432">
            <a:spAutoFit/>
          </a:bodyPr>
          <a:lstStyle/>
          <a:p>
            <a:pPr algn="l">
              <a:defRPr sz="1200" b="0">
                <a:solidFill>
                  <a:srgbClr val="4B5B61"/>
                </a:solidFill>
                <a:latin typeface="Aptos"/>
              </a:defRPr>
            </a:pPr>
            <a:r>
              <a:t>Reusable methods reduce repeated code</a:t>
            </a:r>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p:txBody>
          <a:bodyPr wrap="square" lIns="137160" tIns="109728" rIns="137160" bIns="91440"/>
          <a:lstStyle/>
          <a:p>
            <a:pPr>
              <a:spcAft>
                <a:spcPts val="900"/>
              </a:spcAft>
              <a:defRPr sz="2600" b="1">
                <a:solidFill>
                  <a:srgbClr val="163944"/>
                </a:solidFill>
                <a:latin typeface="Aptos"/>
              </a:defRPr>
            </a:pPr>
            <a:r>
              <a:t>CO4 — Objects That Fail Safely</a:t>
            </a:r>
          </a:p>
        </p:txBody>
      </p:sp>
      <p:sp>
        <p:nvSpPr>
          <p:cNvPr id="3" name="Content Placeholder 2">
            <a:extLst>
              <a:ext uri="{FF2B5EF4-FFF2-40B4-BE49-F238E27FC236}">
                <a16:creationId xmlns:a16="http://schemas.microsoft.com/office/drawing/2014/main" id="{44C763C4-B644-2CBF-4AE1-87632858C4E5}"/>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Object-oriented design</a:t>
            </a:r>
            <a:endParaRPr lang="en-IN"/>
          </a:p>
          <a:p>
            <a:pPr>
              <a:spcAft>
                <a:spcPts val="900"/>
              </a:spcAft>
              <a:defRPr sz="1800" b="0">
                <a:solidFill>
                  <a:srgbClr val="4B5B61"/>
                </a:solidFill>
                <a:latin typeface="Aptos"/>
              </a:defRPr>
            </a:pPr>
            <a:r>
              <a:t>• WastePoint: stores point ID, location and waste level.</a:t>
            </a:r>
          </a:p>
          <a:p>
            <a:pPr>
              <a:spcAft>
                <a:spcPts val="900"/>
              </a:spcAft>
              <a:defRPr sz="1800" b="0">
                <a:solidFill>
                  <a:srgbClr val="4B5B61"/>
                </a:solidFill>
                <a:latin typeface="Aptos"/>
              </a:defRPr>
            </a:pPr>
            <a:r>
              <a:t>• CollectionPlan: stores the ordered points and report values.</a:t>
            </a:r>
          </a:p>
          <a:p>
            <a:pPr>
              <a:spcAft>
                <a:spcPts val="900"/>
              </a:spcAft>
              <a:defRPr sz="1800" b="0">
                <a:solidFill>
                  <a:srgbClr val="4B5B61"/>
                </a:solidFill>
                <a:latin typeface="Aptos"/>
              </a:defRPr>
            </a:pPr>
            <a:r>
              <a:t>• MunicipalSystem: coordinates analysis and plan generation.</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Encapsulation and constructors</a:t>
            </a:r>
          </a:p>
          <a:p>
            <a:pPr>
              <a:spcAft>
                <a:spcPts val="900"/>
              </a:spcAft>
              <a:defRPr sz="1800" b="0">
                <a:solidFill>
                  <a:srgbClr val="4B5B61"/>
                </a:solidFill>
                <a:latin typeface="Aptos"/>
              </a:defRPr>
            </a:pPr>
            <a:r>
              <a:t>• Keep fields private and expose controlled methods.</a:t>
            </a:r>
          </a:p>
          <a:p>
            <a:pPr>
              <a:spcAft>
                <a:spcPts val="900"/>
              </a:spcAft>
              <a:defRPr sz="1800" b="0">
                <a:solidFill>
                  <a:srgbClr val="4B5B61"/>
                </a:solidFill>
                <a:latin typeface="Aptos"/>
              </a:defRPr>
            </a:pPr>
            <a:r>
              <a:t>• Use constructors to initialise each object with valid data.</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Exception handling and validation</a:t>
            </a:r>
          </a:p>
          <a:p>
            <a:pPr>
              <a:spcAft>
                <a:spcPts val="900"/>
              </a:spcAft>
              <a:defRPr sz="1800" b="0">
                <a:solidFill>
                  <a:srgbClr val="4B5B61"/>
                </a:solidFill>
                <a:latin typeface="Aptos"/>
              </a:defRPr>
            </a:pPr>
            <a:r>
              <a:t>• Check that waste level is between 0 and 100.</a:t>
            </a:r>
          </a:p>
          <a:p>
            <a:pPr>
              <a:spcAft>
                <a:spcPts val="900"/>
              </a:spcAft>
              <a:defRPr sz="1800" b="0">
                <a:solidFill>
                  <a:srgbClr val="4B5B61"/>
                </a:solidFill>
                <a:latin typeface="Aptos"/>
              </a:defRPr>
            </a:pPr>
            <a:r>
              <a:t>• Handle invalid numeric input or file errors safely.</a:t>
            </a:r>
          </a:p>
          <a:p>
            <a:pPr>
              <a:spcAft>
                <a:spcPts val="900"/>
              </a:spcAft>
              <a:defRPr sz="1800" b="0">
                <a:solidFill>
                  <a:srgbClr val="4B5B61"/>
                </a:solidFill>
                <a:latin typeface="Aptos"/>
              </a:defRPr>
            </a:pPr>
            <a:r>
              <a:t>• Show a useful message instead of allowing invalid data into the plan.</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r>
              <a:t>7</a:t>
            </a:r>
          </a:p>
        </p:txBody>
      </p:sp>
      <p:sp>
        <p:nvSpPr>
          <p:cNvPr id="6" name="Rounded Rectangle 5"/>
          <p:cNvSpPr/>
          <p:nvPr/>
        </p:nvSpPr>
        <p:spPr>
          <a:xfrm>
            <a:off x="7498079" y="4754880"/>
            <a:ext cx="3337560" cy="868680"/>
          </a:xfrm>
          <a:prstGeom prst="roundRect">
            <a:avLst/>
          </a:prstGeom>
          <a:solidFill>
            <a:srgbClr val="FAF4DE"/>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79" y="4754880"/>
            <a:ext cx="73152" cy="868680"/>
          </a:xfrm>
          <a:prstGeom prst="rect">
            <a:avLst/>
          </a:prstGeom>
          <a:solidFill>
            <a:srgbClr val="C9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1" y="4864608"/>
            <a:ext cx="3063240" cy="310896"/>
          </a:xfrm>
          <a:prstGeom prst="rect">
            <a:avLst/>
          </a:prstGeom>
          <a:noFill/>
        </p:spPr>
        <p:txBody>
          <a:bodyPr wrap="square" lIns="54864" tIns="36576" rIns="54864" bIns="27432">
            <a:spAutoFit/>
          </a:bodyPr>
          <a:lstStyle/>
          <a:p>
            <a:pPr algn="l">
              <a:defRPr sz="1600" b="1">
                <a:solidFill>
                  <a:srgbClr val="C95D4C"/>
                </a:solidFill>
                <a:latin typeface="Aptos"/>
              </a:defRPr>
            </a:pPr>
            <a:r>
              <a:t>SAFE RULE</a:t>
            </a:r>
          </a:p>
        </p:txBody>
      </p:sp>
      <p:sp>
        <p:nvSpPr>
          <p:cNvPr id="9" name="TextBox 8"/>
          <p:cNvSpPr txBox="1"/>
          <p:nvPr/>
        </p:nvSpPr>
        <p:spPr>
          <a:xfrm>
            <a:off x="7662671" y="5230368"/>
            <a:ext cx="3044952" cy="338328"/>
          </a:xfrm>
          <a:prstGeom prst="rect">
            <a:avLst/>
          </a:prstGeom>
          <a:noFill/>
        </p:spPr>
        <p:txBody>
          <a:bodyPr wrap="square" lIns="54864" tIns="36576" rIns="54864" bIns="27432">
            <a:spAutoFit/>
          </a:bodyPr>
          <a:lstStyle/>
          <a:p>
            <a:pPr algn="l">
              <a:defRPr sz="1200" b="0">
                <a:solidFill>
                  <a:srgbClr val="4B5B61"/>
                </a:solidFill>
                <a:latin typeface="Aptos"/>
              </a:defRPr>
            </a:pPr>
            <a:r>
              <a:t>Invalid data must not create a valid collection entry</a:t>
            </a:r>
          </a:p>
        </p:txBody>
      </p: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p:txBody>
          <a:bodyPr wrap="square" lIns="137160" tIns="109728" rIns="137160" bIns="91440"/>
          <a:lstStyle/>
          <a:p>
            <a:pPr>
              <a:spcAft>
                <a:spcPts val="900"/>
              </a:spcAft>
              <a:defRPr sz="2500" b="1">
                <a:solidFill>
                  <a:srgbClr val="163944"/>
                </a:solidFill>
                <a:latin typeface="Aptos"/>
              </a:defRPr>
            </a:pPr>
            <a:r>
              <a:t>CO5 — Strings, Library Algorithms &amp; Files</a:t>
            </a:r>
          </a:p>
        </p:txBody>
      </p:sp>
      <p:sp>
        <p:nvSpPr>
          <p:cNvPr id="3" name="Content Placeholder 2">
            <a:extLst>
              <a:ext uri="{FF2B5EF4-FFF2-40B4-BE49-F238E27FC236}">
                <a16:creationId xmlns:a16="http://schemas.microsoft.com/office/drawing/2014/main" id="{AC22B8C9-B5A8-6FD1-7D16-20BF4FBD74F4}"/>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Strings</a:t>
            </a:r>
            <a:endParaRPr lang="en-IN"/>
          </a:p>
          <a:p>
            <a:pPr>
              <a:spcAft>
                <a:spcPts val="900"/>
              </a:spcAft>
              <a:defRPr sz="1800" b="0">
                <a:solidFill>
                  <a:srgbClr val="4B5B61"/>
                </a:solidFill>
                <a:latin typeface="Aptos"/>
              </a:defRPr>
            </a:pPr>
            <a:r>
              <a:t>• Store collection-point IDs, locations and category names.</a:t>
            </a:r>
          </a:p>
          <a:p>
            <a:pPr>
              <a:spcAft>
                <a:spcPts val="900"/>
              </a:spcAft>
              <a:defRPr sz="1800" b="0">
                <a:solidFill>
                  <a:srgbClr val="4B5B61"/>
                </a:solidFill>
                <a:latin typeface="Aptos"/>
              </a:defRPr>
            </a:pPr>
            <a:r>
              <a:t>• Use trim() to remove accidental spaces and isBlank() to check empty input.</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Library algorithms</a:t>
            </a:r>
          </a:p>
          <a:p>
            <a:pPr>
              <a:spcAft>
                <a:spcPts val="900"/>
              </a:spcAft>
              <a:defRPr sz="1800" b="0">
                <a:solidFill>
                  <a:srgbClr val="4B5B61"/>
                </a:solidFill>
                <a:latin typeface="Aptos"/>
              </a:defRPr>
            </a:pPr>
            <a:r>
              <a:t>• Search for a collection point by ID.</a:t>
            </a:r>
          </a:p>
          <a:p>
            <a:pPr>
              <a:spcAft>
                <a:spcPts val="900"/>
              </a:spcAft>
              <a:defRPr sz="1800" b="0">
                <a:solidFill>
                  <a:srgbClr val="4B5B61"/>
                </a:solidFill>
                <a:latin typeface="Aptos"/>
              </a:defRPr>
            </a:pPr>
            <a:r>
              <a:t>• Sort points by waste level or priority using a comparator.</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File handling</a:t>
            </a:r>
          </a:p>
          <a:p>
            <a:pPr>
              <a:spcAft>
                <a:spcPts val="900"/>
              </a:spcAft>
              <a:defRPr sz="1800" b="0">
                <a:solidFill>
                  <a:srgbClr val="4B5B61"/>
                </a:solidFill>
                <a:latin typeface="Aptos"/>
              </a:defRPr>
            </a:pPr>
            <a:r>
              <a:t>• Optional CSV/text input can load collection points.</a:t>
            </a:r>
          </a:p>
          <a:p>
            <a:pPr>
              <a:spcAft>
                <a:spcPts val="900"/>
              </a:spcAft>
              <a:defRPr sz="1800" b="0">
                <a:solidFill>
                  <a:srgbClr val="4B5B61"/>
                </a:solidFill>
                <a:latin typeface="Aptos"/>
              </a:defRPr>
            </a:pPr>
            <a:r>
              <a:t>• A report file can store the generated collection order and summary.</a:t>
            </a:r>
          </a:p>
          <a:p>
            <a:pPr>
              <a:spcAft>
                <a:spcPts val="900"/>
              </a:spcAft>
              <a:defRPr sz="1800" b="0">
                <a:solidFill>
                  <a:srgbClr val="4B5B61"/>
                </a:solidFill>
                <a:latin typeface="Aptos"/>
              </a:defRPr>
            </a:pPr>
            <a:r>
              <a:t>• Handle missing files and read/write errors with clear messages.</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Include only the features that are implemented in the final submitted program.</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r>
              <a:t>8</a:t>
            </a:r>
          </a:p>
        </p:txBody>
      </p:sp>
      <p:sp>
        <p:nvSpPr>
          <p:cNvPr id="6" name="Rounded Rectangle 5"/>
          <p:cNvSpPr/>
          <p:nvPr/>
        </p:nvSpPr>
        <p:spPr>
          <a:xfrm>
            <a:off x="7498079" y="4773168"/>
            <a:ext cx="3337560" cy="822960"/>
          </a:xfrm>
          <a:prstGeom prst="roundRect">
            <a:avLst/>
          </a:prstGeom>
          <a:solidFill>
            <a:srgbClr val="E8F3E7"/>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79" y="4773168"/>
            <a:ext cx="73152" cy="822960"/>
          </a:xfrm>
          <a:prstGeom prst="rect">
            <a:avLst/>
          </a:prstGeom>
          <a:solidFill>
            <a:srgbClr val="288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1" y="4882896"/>
            <a:ext cx="3063240" cy="310896"/>
          </a:xfrm>
          <a:prstGeom prst="rect">
            <a:avLst/>
          </a:prstGeom>
          <a:noFill/>
        </p:spPr>
        <p:txBody>
          <a:bodyPr wrap="square" lIns="54864" tIns="36576" rIns="54864" bIns="27432">
            <a:spAutoFit/>
          </a:bodyPr>
          <a:lstStyle/>
          <a:p>
            <a:pPr algn="l">
              <a:defRPr sz="1600" b="1">
                <a:solidFill>
                  <a:srgbClr val="28804E"/>
                </a:solidFill>
                <a:latin typeface="Aptos"/>
              </a:defRPr>
            </a:pPr>
            <a:r>
              <a:t>EXAMPLE</a:t>
            </a:r>
          </a:p>
        </p:txBody>
      </p:sp>
      <p:sp>
        <p:nvSpPr>
          <p:cNvPr id="9" name="TextBox 8"/>
          <p:cNvSpPr txBox="1"/>
          <p:nvPr/>
        </p:nvSpPr>
        <p:spPr>
          <a:xfrm>
            <a:off x="7662671" y="5248656"/>
            <a:ext cx="3044952" cy="292608"/>
          </a:xfrm>
          <a:prstGeom prst="rect">
            <a:avLst/>
          </a:prstGeom>
          <a:noFill/>
        </p:spPr>
        <p:txBody>
          <a:bodyPr wrap="square" lIns="54864" tIns="36576" rIns="54864" bIns="27432">
            <a:spAutoFit/>
          </a:bodyPr>
          <a:lstStyle/>
          <a:p>
            <a:pPr algn="l">
              <a:defRPr sz="1200" b="0">
                <a:solidFill>
                  <a:srgbClr val="4B5B61"/>
                </a:solidFill>
                <a:latin typeface="Aptos"/>
              </a:defRPr>
            </a:pPr>
            <a:r>
              <a:t>Sort: High → Medium → Low → Very Low</a:t>
            </a:r>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p:txBody>
          <a:bodyPr wrap="square" lIns="137160" tIns="109728" rIns="137160" bIns="91440"/>
          <a:lstStyle/>
          <a:p>
            <a:pPr>
              <a:spcAft>
                <a:spcPts val="900"/>
              </a:spcAft>
              <a:defRPr sz="2600" b="1">
                <a:solidFill>
                  <a:srgbClr val="163944"/>
                </a:solidFill>
                <a:latin typeface="Aptos"/>
              </a:defRPr>
            </a:pPr>
            <a:r>
              <a:t>CO6 — Collections &amp; Streams</a:t>
            </a:r>
          </a:p>
        </p:txBody>
      </p:sp>
      <p:sp>
        <p:nvSpPr>
          <p:cNvPr id="3" name="Content Placeholder 2">
            <a:extLst>
              <a:ext uri="{FF2B5EF4-FFF2-40B4-BE49-F238E27FC236}">
                <a16:creationId xmlns:a16="http://schemas.microsoft.com/office/drawing/2014/main" id="{4D1AB529-5F96-F28F-CD50-8BFE419EE30E}"/>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Collections</a:t>
            </a:r>
            <a:endParaRPr lang="en-IN"/>
          </a:p>
          <a:p>
            <a:pPr>
              <a:spcAft>
                <a:spcPts val="900"/>
              </a:spcAft>
              <a:defRPr sz="1800" b="0">
                <a:solidFill>
                  <a:srgbClr val="4B5B61"/>
                </a:solidFill>
                <a:latin typeface="Aptos"/>
              </a:defRPr>
            </a:pPr>
            <a:r>
              <a:t>• ArrayList&lt;WastePoint&gt; can hold a flexible number of collection points.</a:t>
            </a:r>
          </a:p>
          <a:p>
            <a:pPr>
              <a:spcAft>
                <a:spcPts val="900"/>
              </a:spcAft>
              <a:defRPr sz="1800" b="0">
                <a:solidFill>
                  <a:srgbClr val="4B5B61"/>
                </a:solidFill>
                <a:latin typeface="Aptos"/>
              </a:defRPr>
            </a:pPr>
            <a:r>
              <a:t>• Each object stores its own ID, location and waste level.</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Lambdas and functional interfaces</a:t>
            </a:r>
          </a:p>
          <a:p>
            <a:pPr>
              <a:spcAft>
                <a:spcPts val="900"/>
              </a:spcAft>
              <a:defRPr sz="1800" b="0">
                <a:solidFill>
                  <a:srgbClr val="4B5B61"/>
                </a:solidFill>
                <a:latin typeface="Aptos"/>
              </a:defRPr>
            </a:pPr>
            <a:r>
              <a:t>• A Comparator lambda can order points by waste level.</a:t>
            </a:r>
          </a:p>
          <a:p>
            <a:pPr>
              <a:spcAft>
                <a:spcPts val="900"/>
              </a:spcAft>
              <a:defRPr sz="1800" b="0">
                <a:solidFill>
                  <a:srgbClr val="4B5B61"/>
                </a:solidFill>
                <a:latin typeface="Aptos"/>
              </a:defRPr>
            </a:pPr>
            <a:r>
              <a:t>• A predicate can filter points that need urgent collection.</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Streams</a:t>
            </a:r>
          </a:p>
          <a:p>
            <a:pPr>
              <a:spcAft>
                <a:spcPts val="900"/>
              </a:spcAft>
              <a:defRPr sz="1800" b="0">
                <a:solidFill>
                  <a:srgbClr val="4B5B61"/>
                </a:solidFill>
                <a:latin typeface="Aptos"/>
              </a:defRPr>
            </a:pPr>
            <a:r>
              <a:t>• Filter high-priority points.</a:t>
            </a:r>
          </a:p>
          <a:p>
            <a:pPr>
              <a:spcAft>
                <a:spcPts val="900"/>
              </a:spcAft>
              <a:defRPr sz="1800" b="0">
                <a:solidFill>
                  <a:srgbClr val="4B5B61"/>
                </a:solidFill>
                <a:latin typeface="Aptos"/>
              </a:defRPr>
            </a:pPr>
            <a:r>
              <a:t>• Count collection points in each category.</a:t>
            </a:r>
          </a:p>
          <a:p>
            <a:pPr>
              <a:spcAft>
                <a:spcPts val="900"/>
              </a:spcAft>
              <a:defRPr sz="1800" b="0">
                <a:solidFill>
                  <a:srgbClr val="4B5B61"/>
                </a:solidFill>
                <a:latin typeface="Aptos"/>
              </a:defRPr>
            </a:pPr>
            <a:r>
              <a:t>• Calculate simple summaries for the report.</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These features support clean data processing. Use Streams and lambdas when they are part of the actual implementation.</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r>
              <a:t>9</a:t>
            </a:r>
          </a:p>
        </p:txBody>
      </p:sp>
      <p:sp>
        <p:nvSpPr>
          <p:cNvPr id="6" name="Rounded Rectangle 5"/>
          <p:cNvSpPr/>
          <p:nvPr/>
        </p:nvSpPr>
        <p:spPr>
          <a:xfrm>
            <a:off x="7498079" y="4773168"/>
            <a:ext cx="3337560" cy="822960"/>
          </a:xfrm>
          <a:prstGeom prst="roundRect">
            <a:avLst/>
          </a:prstGeom>
          <a:solidFill>
            <a:srgbClr val="E8F1F8"/>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79" y="4773168"/>
            <a:ext cx="73152" cy="822960"/>
          </a:xfrm>
          <a:prstGeom prst="rect">
            <a:avLst/>
          </a:prstGeom>
          <a:solidFill>
            <a:srgbClr val="2E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1" y="4882896"/>
            <a:ext cx="3063240" cy="310896"/>
          </a:xfrm>
          <a:prstGeom prst="rect">
            <a:avLst/>
          </a:prstGeom>
          <a:noFill/>
        </p:spPr>
        <p:txBody>
          <a:bodyPr wrap="square" lIns="54864" tIns="36576" rIns="54864" bIns="27432">
            <a:spAutoFit/>
          </a:bodyPr>
          <a:lstStyle/>
          <a:p>
            <a:pPr algn="l">
              <a:defRPr sz="1600" b="1">
                <a:solidFill>
                  <a:srgbClr val="2E8991"/>
                </a:solidFill>
                <a:latin typeface="Aptos"/>
              </a:defRPr>
            </a:pPr>
            <a:r>
              <a:t>EXAMPLE</a:t>
            </a:r>
          </a:p>
        </p:txBody>
      </p:sp>
      <p:sp>
        <p:nvSpPr>
          <p:cNvPr id="9" name="TextBox 8"/>
          <p:cNvSpPr txBox="1"/>
          <p:nvPr/>
        </p:nvSpPr>
        <p:spPr>
          <a:xfrm>
            <a:off x="7662671" y="5248656"/>
            <a:ext cx="3044952" cy="292608"/>
          </a:xfrm>
          <a:prstGeom prst="rect">
            <a:avLst/>
          </a:prstGeom>
          <a:noFill/>
        </p:spPr>
        <p:txBody>
          <a:bodyPr wrap="square" lIns="54864" tIns="36576" rIns="54864" bIns="27432">
            <a:spAutoFit/>
          </a:bodyPr>
          <a:lstStyle/>
          <a:p>
            <a:pPr algn="l">
              <a:defRPr sz="1200" b="0">
                <a:solidFill>
                  <a:srgbClr val="4B5B61"/>
                </a:solidFill>
                <a:latin typeface="Aptos"/>
              </a:defRPr>
            </a:pPr>
            <a:r>
              <a:t>Filter high-priority points for early collection</a:t>
            </a:r>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wrap="square" lIns="137160" tIns="109728" rIns="137160" bIns="91440"/>
          <a:lstStyle/>
          <a:p>
            <a:pPr>
              <a:spcAft>
                <a:spcPts val="900"/>
              </a:spcAft>
              <a:defRPr sz="2800" b="1">
                <a:solidFill>
                  <a:srgbClr val="163944"/>
                </a:solidFill>
                <a:latin typeface="Aptos"/>
              </a:defRPr>
            </a:pPr>
            <a:r>
              <a:t>Conclusion</a:t>
            </a:r>
          </a:p>
        </p:txBody>
      </p:sp>
      <p:sp>
        <p:nvSpPr>
          <p:cNvPr id="3" name="Content Placeholder 2">
            <a:extLst>
              <a:ext uri="{FF2B5EF4-FFF2-40B4-BE49-F238E27FC236}">
                <a16:creationId xmlns:a16="http://schemas.microsoft.com/office/drawing/2014/main" id="{E2A290F1-736B-3136-6FB3-89FC4E638D92}"/>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The Municipal Waste Collection Optimiser presents a practical approach to improving municipal waste collection decisions.</a:t>
            </a:r>
            <a:endParaRPr lang="en-IN"/>
          </a:p>
          <a:p>
            <a:pPr>
              <a:spcAft>
                <a:spcPts val="900"/>
              </a:spcAft>
              <a:defRPr sz="1800" b="0">
                <a:solidFill>
                  <a:srgbClr val="4B5B61"/>
                </a:solidFill>
                <a:latin typeface="Aptos"/>
              </a:defRPr>
            </a:pPr>
            <a:endParaRPr lang="en-IN"/>
          </a:p>
          <a:p>
            <a:pPr>
              <a:spcAft>
                <a:spcPts val="900"/>
              </a:spcAft>
              <a:defRPr sz="1800" b="0">
                <a:solidFill>
                  <a:srgbClr val="4B5B61"/>
                </a:solidFill>
                <a:latin typeface="Aptos"/>
              </a:defRPr>
            </a:pPr>
            <a:r>
              <a:t>By analysing waste levels and prioritising fuller bins, the system can produce a more organised collection plan. Its Java design connects problem-solving, control flow, methods, object-oriented programming, validation, strings, collections and data processing.</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Potential benefits include fewer unnecessary trips, lower fuel use, reduced overflow and better use of collection resources.</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Future enhancements:</a:t>
            </a:r>
          </a:p>
          <a:p>
            <a:pPr>
              <a:spcAft>
                <a:spcPts val="900"/>
              </a:spcAft>
              <a:defRPr sz="1800" b="0">
                <a:solidFill>
                  <a:srgbClr val="4B5B61"/>
                </a:solidFill>
                <a:latin typeface="Aptos"/>
              </a:defRPr>
            </a:pPr>
            <a:r>
              <a:t>• Integrate live bin sensors and GPS coordinates.</a:t>
            </a:r>
          </a:p>
          <a:p>
            <a:pPr>
              <a:spcAft>
                <a:spcPts val="900"/>
              </a:spcAft>
              <a:defRPr sz="1800" b="0">
                <a:solidFill>
                  <a:srgbClr val="4B5B61"/>
                </a:solidFill>
                <a:latin typeface="Aptos"/>
              </a:defRPr>
            </a:pPr>
            <a:r>
              <a:t>• Use road distances and traffic conditions for route optimisation.</a:t>
            </a:r>
          </a:p>
          <a:p>
            <a:pPr>
              <a:spcAft>
                <a:spcPts val="900"/>
              </a:spcAft>
              <a:defRPr sz="1800" b="0">
                <a:solidFill>
                  <a:srgbClr val="4B5B61"/>
                </a:solidFill>
                <a:latin typeface="Aptos"/>
              </a:defRPr>
            </a:pPr>
            <a:r>
              <a:t>• Add a dashboard, map view and report export.</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A cleaner city begins with smarter collection planning.</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r>
              <a:t>10</a:t>
            </a:r>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p:txBody>
          <a:bodyPr wrap="square" lIns="137160" tIns="109728" rIns="137160" bIns="91440"/>
          <a:lstStyle/>
          <a:p>
            <a:pPr>
              <a:spcAft>
                <a:spcPts val="900"/>
              </a:spcAft>
              <a:defRPr sz="2800" b="1">
                <a:solidFill>
                  <a:srgbClr val="163944"/>
                </a:solidFill>
                <a:latin typeface="Aptos"/>
              </a:defRPr>
            </a:pPr>
            <a:r>
              <a:t>Screen Shots</a:t>
            </a:r>
            <a:endParaRPr lang="en-IN" dirty="0"/>
          </a:p>
        </p:txBody>
      </p:sp>
      <p:sp>
        <p:nvSpPr>
          <p:cNvPr id="3" name="Content Placeholder 2">
            <a:extLst>
              <a:ext uri="{FF2B5EF4-FFF2-40B4-BE49-F238E27FC236}">
                <a16:creationId xmlns:a16="http://schemas.microsoft.com/office/drawing/2014/main" id="{FAF50197-AF06-5AEF-7EEE-2BB7A4AD930C}"/>
              </a:ext>
            </a:extLst>
          </p:cNvPr>
          <p:cNvSpPr>
            <a:spLocks noGrp="1"/>
          </p:cNvSpPr>
          <p:nvPr>
            <p:ph idx="1"/>
          </p:nvPr>
        </p:nvSpPr>
        <p:spPr/>
        <p:txBody>
          <a:bodyPr wrap="square" lIns="137160" tIns="109728" rIns="137160" bIns="91440"/>
          <a:lstStyle/>
          <a:p>
            <a:pPr>
              <a:spcAft>
                <a:spcPts val="900"/>
              </a:spcAft>
              <a:defRPr sz="1700" b="0">
                <a:solidFill>
                  <a:srgbClr val="4B5B61"/>
                </a:solidFill>
                <a:latin typeface="Aptos"/>
              </a:defRPr>
            </a:pPr>
            <a:r>
              <a:rPr dirty="0"/>
              <a:t>Add your own screenshots in the spaces below before submission:</a:t>
            </a:r>
            <a:endParaRPr lang="en-IN" dirty="0"/>
          </a:p>
          <a:p>
            <a:pPr>
              <a:spcAft>
                <a:spcPts val="900"/>
              </a:spcAft>
              <a:defRPr sz="1700" b="0">
                <a:solidFill>
                  <a:srgbClr val="4B5B61"/>
                </a:solidFill>
                <a:latin typeface="Aptos"/>
              </a:defRPr>
            </a:pPr>
            <a:r>
              <a:rPr dirty="0"/>
              <a:t>1. Java source code showing the main classes and methods.</a:t>
            </a:r>
          </a:p>
          <a:p>
            <a:pPr>
              <a:spcAft>
                <a:spcPts val="900"/>
              </a:spcAft>
              <a:defRPr sz="1700" b="0">
                <a:solidFill>
                  <a:srgbClr val="4B5B61"/>
                </a:solidFill>
                <a:latin typeface="Aptos"/>
              </a:defRPr>
            </a:pPr>
            <a:r>
              <a:rPr dirty="0"/>
              <a:t>2. Program output showing waste-level classification and collection ord</a:t>
            </a:r>
            <a:r>
              <a:rPr lang="en-US" dirty="0"/>
              <a:t>er.</a:t>
            </a:r>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r>
              <a:t>11</a:t>
            </a:r>
          </a:p>
        </p:txBody>
      </p:sp>
      <p:sp>
        <p:nvSpPr>
          <p:cNvPr id="6" name="Rounded Rectangle 5"/>
          <p:cNvSpPr/>
          <p:nvPr/>
        </p:nvSpPr>
        <p:spPr>
          <a:xfrm>
            <a:off x="896112" y="4160520"/>
            <a:ext cx="3246120" cy="1078992"/>
          </a:xfrm>
          <a:prstGeom prst="roundRect">
            <a:avLst/>
          </a:prstGeom>
          <a:solidFill>
            <a:srgbClr val="E8F3E7"/>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96112" y="4160520"/>
            <a:ext cx="73152" cy="1078992"/>
          </a:xfrm>
          <a:prstGeom prst="rect">
            <a:avLst/>
          </a:prstGeom>
          <a:solidFill>
            <a:srgbClr val="288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0704" y="4270248"/>
            <a:ext cx="2971800" cy="310896"/>
          </a:xfrm>
          <a:prstGeom prst="rect">
            <a:avLst/>
          </a:prstGeom>
          <a:noFill/>
        </p:spPr>
        <p:txBody>
          <a:bodyPr wrap="square" lIns="54864" tIns="36576" rIns="54864" bIns="27432">
            <a:spAutoFit/>
          </a:bodyPr>
          <a:lstStyle/>
          <a:p>
            <a:pPr algn="l">
              <a:defRPr sz="1600" b="1">
                <a:solidFill>
                  <a:srgbClr val="28804E"/>
                </a:solidFill>
                <a:latin typeface="Aptos"/>
              </a:defRPr>
            </a:pPr>
            <a:r>
              <a:t>SCREENSHOT 1</a:t>
            </a:r>
          </a:p>
        </p:txBody>
      </p:sp>
      <p:sp>
        <p:nvSpPr>
          <p:cNvPr id="9" name="TextBox 8"/>
          <p:cNvSpPr txBox="1"/>
          <p:nvPr/>
        </p:nvSpPr>
        <p:spPr>
          <a:xfrm>
            <a:off x="1060704" y="4636008"/>
            <a:ext cx="2953512" cy="548640"/>
          </a:xfrm>
          <a:prstGeom prst="rect">
            <a:avLst/>
          </a:prstGeom>
          <a:noFill/>
        </p:spPr>
        <p:txBody>
          <a:bodyPr wrap="square" lIns="54864" tIns="36576" rIns="54864" bIns="27432">
            <a:spAutoFit/>
          </a:bodyPr>
          <a:lstStyle/>
          <a:p>
            <a:pPr algn="l">
              <a:defRPr sz="1200" b="0">
                <a:solidFill>
                  <a:srgbClr val="4B5B61"/>
                </a:solidFill>
                <a:latin typeface="Aptos"/>
              </a:defRPr>
            </a:pPr>
            <a:r>
              <a:t>Source code</a:t>
            </a:r>
          </a:p>
        </p:txBody>
      </p:sp>
      <p:sp>
        <p:nvSpPr>
          <p:cNvPr id="10" name="Rounded Rectangle 9"/>
          <p:cNvSpPr/>
          <p:nvPr/>
        </p:nvSpPr>
        <p:spPr>
          <a:xfrm>
            <a:off x="4462272" y="4160520"/>
            <a:ext cx="3246120" cy="1078992"/>
          </a:xfrm>
          <a:prstGeom prst="roundRect">
            <a:avLst/>
          </a:prstGeom>
          <a:solidFill>
            <a:srgbClr val="E8F1F8"/>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26864" y="4270248"/>
            <a:ext cx="2971800" cy="310896"/>
          </a:xfrm>
          <a:prstGeom prst="rect">
            <a:avLst/>
          </a:prstGeom>
          <a:noFill/>
        </p:spPr>
        <p:txBody>
          <a:bodyPr wrap="square" lIns="54864" tIns="36576" rIns="54864" bIns="27432">
            <a:spAutoFit/>
          </a:bodyPr>
          <a:lstStyle/>
          <a:p>
            <a:pPr algn="l">
              <a:defRPr sz="1600" b="1">
                <a:solidFill>
                  <a:srgbClr val="3D76AD"/>
                </a:solidFill>
                <a:latin typeface="Aptos"/>
              </a:defRPr>
            </a:pPr>
            <a:r>
              <a:t>SCREENSHOT 2</a:t>
            </a:r>
          </a:p>
        </p:txBody>
      </p:sp>
      <p:sp>
        <p:nvSpPr>
          <p:cNvPr id="13" name="TextBox 12"/>
          <p:cNvSpPr txBox="1"/>
          <p:nvPr/>
        </p:nvSpPr>
        <p:spPr>
          <a:xfrm>
            <a:off x="4626864" y="4636008"/>
            <a:ext cx="2953512" cy="548640"/>
          </a:xfrm>
          <a:prstGeom prst="rect">
            <a:avLst/>
          </a:prstGeom>
          <a:noFill/>
        </p:spPr>
        <p:txBody>
          <a:bodyPr wrap="square" lIns="54864" tIns="36576" rIns="54864" bIns="27432">
            <a:spAutoFit/>
          </a:bodyPr>
          <a:lstStyle/>
          <a:p>
            <a:pPr algn="l">
              <a:defRPr sz="1200" b="0">
                <a:solidFill>
                  <a:srgbClr val="4B5B61"/>
                </a:solidFill>
                <a:latin typeface="Aptos"/>
              </a:defRPr>
            </a:pPr>
            <a:r>
              <a:t>Program output</a:t>
            </a:r>
          </a:p>
        </p:txBody>
      </p:sp>
      <p:sp>
        <p:nvSpPr>
          <p:cNvPr id="14" name="Rounded Rectangle 13"/>
          <p:cNvSpPr/>
          <p:nvPr/>
        </p:nvSpPr>
        <p:spPr>
          <a:xfrm>
            <a:off x="8028431" y="4160520"/>
            <a:ext cx="3246120" cy="1078992"/>
          </a:xfrm>
          <a:prstGeom prst="roundRect">
            <a:avLst/>
          </a:prstGeom>
          <a:solidFill>
            <a:srgbClr val="FAF4DE"/>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28431" y="4160520"/>
            <a:ext cx="73152" cy="1078992"/>
          </a:xfrm>
          <a:prstGeom prst="rect">
            <a:avLst/>
          </a:prstGeom>
          <a:solidFill>
            <a:srgbClr val="DCA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93023" y="4270248"/>
            <a:ext cx="2971800" cy="310896"/>
          </a:xfrm>
          <a:prstGeom prst="rect">
            <a:avLst/>
          </a:prstGeom>
          <a:noFill/>
        </p:spPr>
        <p:txBody>
          <a:bodyPr wrap="square" lIns="54864" tIns="36576" rIns="54864" bIns="27432">
            <a:spAutoFit/>
          </a:bodyPr>
          <a:lstStyle/>
          <a:p>
            <a:pPr algn="l">
              <a:defRPr sz="1600" b="1">
                <a:solidFill>
                  <a:srgbClr val="DCA534"/>
                </a:solidFill>
                <a:latin typeface="Aptos"/>
              </a:defRPr>
            </a:pPr>
            <a:r>
              <a:t>SCREENSHOT 3</a:t>
            </a:r>
          </a:p>
        </p:txBody>
      </p:sp>
      <p:sp>
        <p:nvSpPr>
          <p:cNvPr id="17" name="TextBox 16"/>
          <p:cNvSpPr txBox="1"/>
          <p:nvPr/>
        </p:nvSpPr>
        <p:spPr>
          <a:xfrm>
            <a:off x="8193023" y="4636008"/>
            <a:ext cx="2953512" cy="548640"/>
          </a:xfrm>
          <a:prstGeom prst="rect">
            <a:avLst/>
          </a:prstGeom>
          <a:noFill/>
        </p:spPr>
        <p:txBody>
          <a:bodyPr wrap="square" lIns="54864" tIns="36576" rIns="54864" bIns="27432">
            <a:spAutoFit/>
          </a:bodyPr>
          <a:lstStyle/>
          <a:p>
            <a:pPr algn="l">
              <a:defRPr sz="1200" b="0">
                <a:solidFill>
                  <a:srgbClr val="4B5B61"/>
                </a:solidFill>
                <a:latin typeface="Aptos"/>
              </a:defRPr>
            </a:pPr>
            <a:r>
              <a:t>Test cases</a:t>
            </a:r>
          </a:p>
        </p:txBody>
      </p:sp>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wrap="square" lIns="137160" tIns="109728" rIns="137160" bIns="91440"/>
          <a:lstStyle/>
          <a:p>
            <a:pPr>
              <a:spcAft>
                <a:spcPts val="900"/>
              </a:spcAft>
              <a:defRPr sz="2600" b="1">
                <a:solidFill>
                  <a:srgbClr val="163944"/>
                </a:solidFill>
                <a:latin typeface="Aptos"/>
              </a:defRPr>
            </a:pPr>
            <a:r>
              <a:t>Geo Tag Photo and GitHub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p:txBody>
          <a:bodyPr wrap="square" lIns="137160" tIns="109728" rIns="137160" bIns="91440"/>
          <a:lstStyle/>
          <a:p>
            <a:pPr>
              <a:spcAft>
                <a:spcPts val="900"/>
              </a:spcAft>
              <a:defRPr sz="1800" b="0">
                <a:solidFill>
                  <a:srgbClr val="4B5B61"/>
                </a:solidFill>
                <a:latin typeface="Aptos"/>
              </a:defRPr>
            </a:pPr>
            <a:r>
              <a:t>Geo-tagged photo</a:t>
            </a:r>
            <a:endParaRPr lang="en-IN"/>
          </a:p>
          <a:p>
            <a:pPr>
              <a:spcAft>
                <a:spcPts val="900"/>
              </a:spcAft>
              <a:defRPr sz="1800" b="0">
                <a:solidFill>
                  <a:srgbClr val="4B5B61"/>
                </a:solidFill>
                <a:latin typeface="Aptos"/>
              </a:defRPr>
            </a:pPr>
            <a:r>
              <a:t>Insert a genuine photo required by your course, captured at the project location or demonstration site. Ensure the location information is accurate.</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GitHub repository</a:t>
            </a:r>
          </a:p>
          <a:p>
            <a:pPr>
              <a:spcAft>
                <a:spcPts val="900"/>
              </a:spcAft>
              <a:defRPr sz="1800" b="0">
                <a:solidFill>
                  <a:srgbClr val="4B5B61"/>
                </a:solidFill>
                <a:latin typeface="Aptos"/>
              </a:defRPr>
            </a:pPr>
            <a:r>
              <a:t>Paste your repository URL here:</a:t>
            </a:r>
          </a:p>
          <a:p>
            <a:pPr>
              <a:spcAft>
                <a:spcPts val="900"/>
              </a:spcAft>
              <a:defRPr sz="1800" b="0">
                <a:solidFill>
                  <a:srgbClr val="4B5B61"/>
                </a:solidFill>
                <a:latin typeface="Aptos"/>
              </a:defRPr>
            </a:pPr>
            <a:r>
              <a:t>https://github.com/your-username/your-repository</a:t>
            </a:r>
          </a:p>
          <a:p>
            <a:pPr>
              <a:spcAft>
                <a:spcPts val="900"/>
              </a:spcAft>
              <a:defRPr sz="1800" b="0">
                <a:solidFill>
                  <a:srgbClr val="4B5B61"/>
                </a:solidFill>
                <a:latin typeface="Aptos"/>
              </a:defRPr>
            </a:pPr>
            <a:endParaRPr/>
          </a:p>
          <a:p>
            <a:pPr>
              <a:spcAft>
                <a:spcPts val="900"/>
              </a:spcAft>
              <a:defRPr sz="1800" b="0">
                <a:solidFill>
                  <a:srgbClr val="4B5B61"/>
                </a:solidFill>
                <a:latin typeface="Aptos"/>
              </a:defRPr>
            </a:pPr>
            <a:r>
              <a:t>Before submission, verify that the repository contains the source code, README, test evidence and any required project files. Replace the example URL with your actual public or instructor-accessible repository link.</a:t>
            </a:r>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r>
              <a:t>15-10-2026</a:t>
            </a:r>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r>
              <a:t>12</a:t>
            </a:r>
          </a:p>
        </p:txBody>
      </p:sp>
      <p:sp>
        <p:nvSpPr>
          <p:cNvPr id="6" name="Rounded Rectangle 5"/>
          <p:cNvSpPr/>
          <p:nvPr/>
        </p:nvSpPr>
        <p:spPr>
          <a:xfrm>
            <a:off x="896112" y="5029200"/>
            <a:ext cx="4800600" cy="658368"/>
          </a:xfrm>
          <a:prstGeom prst="roundRect">
            <a:avLst/>
          </a:prstGeom>
          <a:solidFill>
            <a:srgbClr val="E8F3E7"/>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96112" y="5029200"/>
            <a:ext cx="73152" cy="658368"/>
          </a:xfrm>
          <a:prstGeom prst="rect">
            <a:avLst/>
          </a:prstGeom>
          <a:solidFill>
            <a:srgbClr val="288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0704" y="5138928"/>
            <a:ext cx="4526280" cy="310896"/>
          </a:xfrm>
          <a:prstGeom prst="rect">
            <a:avLst/>
          </a:prstGeom>
          <a:noFill/>
        </p:spPr>
        <p:txBody>
          <a:bodyPr wrap="square" lIns="54864" tIns="36576" rIns="54864" bIns="27432">
            <a:spAutoFit/>
          </a:bodyPr>
          <a:lstStyle/>
          <a:p>
            <a:pPr algn="l">
              <a:defRPr sz="1600" b="1">
                <a:solidFill>
                  <a:srgbClr val="28804E"/>
                </a:solidFill>
                <a:latin typeface="Aptos"/>
              </a:defRPr>
            </a:pPr>
            <a:r>
              <a:t>GEO-TAG PHOTO</a:t>
            </a:r>
          </a:p>
        </p:txBody>
      </p:sp>
      <p:sp>
        <p:nvSpPr>
          <p:cNvPr id="9" name="TextBox 8"/>
          <p:cNvSpPr txBox="1"/>
          <p:nvPr/>
        </p:nvSpPr>
        <p:spPr>
          <a:xfrm>
            <a:off x="1060704" y="5504688"/>
            <a:ext cx="4507992" cy="128016"/>
          </a:xfrm>
          <a:prstGeom prst="rect">
            <a:avLst/>
          </a:prstGeom>
          <a:noFill/>
        </p:spPr>
        <p:txBody>
          <a:bodyPr wrap="square" lIns="54864" tIns="36576" rIns="54864" bIns="27432">
            <a:spAutoFit/>
          </a:bodyPr>
          <a:lstStyle/>
          <a:p>
            <a:pPr algn="l">
              <a:defRPr sz="1200" b="0">
                <a:solidFill>
                  <a:srgbClr val="4B5B61"/>
                </a:solidFill>
                <a:latin typeface="Aptos"/>
              </a:defRPr>
            </a:pPr>
            <a:r>
              <a:t>Insert verified project-location photo</a:t>
            </a:r>
          </a:p>
        </p:txBody>
      </p:sp>
      <p:sp>
        <p:nvSpPr>
          <p:cNvPr id="10" name="Rounded Rectangle 9"/>
          <p:cNvSpPr/>
          <p:nvPr/>
        </p:nvSpPr>
        <p:spPr>
          <a:xfrm>
            <a:off x="6172200" y="5029200"/>
            <a:ext cx="4800600" cy="658368"/>
          </a:xfrm>
          <a:prstGeom prst="roundRect">
            <a:avLst/>
          </a:prstGeom>
          <a:solidFill>
            <a:srgbClr val="E8F1F8"/>
          </a:solidFill>
          <a:ln w="12700">
            <a:solidFill>
              <a:srgbClr val="D7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5029200"/>
            <a:ext cx="73152" cy="658368"/>
          </a:xfrm>
          <a:prstGeom prst="rect">
            <a:avLst/>
          </a:prstGeom>
          <a:solidFill>
            <a:srgbClr val="3D76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5138928"/>
            <a:ext cx="4526280" cy="310896"/>
          </a:xfrm>
          <a:prstGeom prst="rect">
            <a:avLst/>
          </a:prstGeom>
          <a:noFill/>
        </p:spPr>
        <p:txBody>
          <a:bodyPr wrap="square" lIns="54864" tIns="36576" rIns="54864" bIns="27432">
            <a:spAutoFit/>
          </a:bodyPr>
          <a:lstStyle/>
          <a:p>
            <a:pPr algn="l">
              <a:defRPr sz="1600" b="1">
                <a:solidFill>
                  <a:srgbClr val="3D76AD"/>
                </a:solidFill>
                <a:latin typeface="Aptos"/>
              </a:defRPr>
            </a:pPr>
            <a:r>
              <a:t>GITHUB</a:t>
            </a:r>
          </a:p>
        </p:txBody>
      </p:sp>
      <p:sp>
        <p:nvSpPr>
          <p:cNvPr id="13" name="TextBox 12"/>
          <p:cNvSpPr txBox="1"/>
          <p:nvPr/>
        </p:nvSpPr>
        <p:spPr>
          <a:xfrm>
            <a:off x="6336792" y="5504688"/>
            <a:ext cx="4507992" cy="128016"/>
          </a:xfrm>
          <a:prstGeom prst="rect">
            <a:avLst/>
          </a:prstGeom>
          <a:noFill/>
        </p:spPr>
        <p:txBody>
          <a:bodyPr wrap="square" lIns="54864" tIns="36576" rIns="54864" bIns="27432">
            <a:spAutoFit/>
          </a:bodyPr>
          <a:lstStyle/>
          <a:p>
            <a:pPr algn="l">
              <a:defRPr sz="1200" b="0">
                <a:solidFill>
                  <a:srgbClr val="4B5B61"/>
                </a:solidFill>
                <a:latin typeface="Aptos"/>
              </a:defRPr>
            </a:pPr>
            <a:r>
              <a:t>Replace example URL with actual repository link</a:t>
            </a:r>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1265</Words>
  <Application>Microsoft Office PowerPoint</Application>
  <PresentationFormat>Widescreen</PresentationFormat>
  <Paragraphs>193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Municipal Waste Collection Optimiser Team No: ______</vt:lpstr>
      <vt:lpstr>Abstract</vt:lpstr>
      <vt:lpstr>Understanding Problem Statement</vt:lpstr>
      <vt:lpstr>CO1 — From Problem to Program</vt:lpstr>
      <vt:lpstr>CO2 — Understanding Loops and Conditions</vt:lpstr>
      <vt:lpstr>CO3 — Applying Methods, Recursion &amp; Arrays</vt:lpstr>
      <vt:lpstr>CO4 — Objects That Fail Safely</vt:lpstr>
      <vt:lpstr>CO5 — Strings, Library Algorithms &amp; Files</vt:lpstr>
      <vt:lpstr>CO6 — Collections &amp; Streams</vt:lpstr>
      <vt:lpstr>Conclusion</vt:lpstr>
      <vt:lpstr>Screen Shots</vt:lpstr>
      <vt:lpstr>Geo Tag Photo and GitHub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SAHASRA REDDY</cp:lastModifiedBy>
  <cp:revision>3</cp:revision>
  <dcterms:created xsi:type="dcterms:W3CDTF">2026-09-15T09:57:10Z</dcterms:created>
  <dcterms:modified xsi:type="dcterms:W3CDTF">2026-10-15T14:48:14Z</dcterms:modified>
</cp:coreProperties>
</file>